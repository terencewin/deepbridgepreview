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8" r:id="rId2"/>
  </p:sldIdLst>
  <p:sldSz cx="9144000" cy="6858000" type="screen4x3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9"/>
    <p:restoredTop sz="92809"/>
  </p:normalViewPr>
  <p:slideViewPr>
    <p:cSldViewPr snapToGrid="0">
      <p:cViewPr varScale="1">
        <p:scale>
          <a:sx n="136" d="100"/>
          <a:sy n="136" d="100"/>
        </p:scale>
        <p:origin x="224" y="3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8" name="Shape 9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rial" panose="020B0604020202020204"/>
      </a:defRPr>
    </a:lvl1pPr>
    <a:lvl2pPr indent="228600" latinLnBrk="0">
      <a:defRPr sz="1200">
        <a:latin typeface="+mj-lt"/>
        <a:ea typeface="+mj-ea"/>
        <a:cs typeface="+mj-cs"/>
        <a:sym typeface="Arial" panose="020B0604020202020204"/>
      </a:defRPr>
    </a:lvl2pPr>
    <a:lvl3pPr indent="457200" latinLnBrk="0">
      <a:defRPr sz="1200">
        <a:latin typeface="+mj-lt"/>
        <a:ea typeface="+mj-ea"/>
        <a:cs typeface="+mj-cs"/>
        <a:sym typeface="Arial" panose="020B0604020202020204"/>
      </a:defRPr>
    </a:lvl3pPr>
    <a:lvl4pPr indent="685800" latinLnBrk="0">
      <a:defRPr sz="1200">
        <a:latin typeface="+mj-lt"/>
        <a:ea typeface="+mj-ea"/>
        <a:cs typeface="+mj-cs"/>
        <a:sym typeface="Arial" panose="020B0604020202020204"/>
      </a:defRPr>
    </a:lvl4pPr>
    <a:lvl5pPr indent="914400" latinLnBrk="0">
      <a:defRPr sz="1200">
        <a:latin typeface="+mj-lt"/>
        <a:ea typeface="+mj-ea"/>
        <a:cs typeface="+mj-cs"/>
        <a:sym typeface="Arial" panose="020B0604020202020204"/>
      </a:defRPr>
    </a:lvl5pPr>
    <a:lvl6pPr indent="1143000" latinLnBrk="0">
      <a:defRPr sz="1200">
        <a:latin typeface="+mj-lt"/>
        <a:ea typeface="+mj-ea"/>
        <a:cs typeface="+mj-cs"/>
        <a:sym typeface="Arial" panose="020B0604020202020204"/>
      </a:defRPr>
    </a:lvl6pPr>
    <a:lvl7pPr indent="1371600" latinLnBrk="0">
      <a:defRPr sz="1200">
        <a:latin typeface="+mj-lt"/>
        <a:ea typeface="+mj-ea"/>
        <a:cs typeface="+mj-cs"/>
        <a:sym typeface="Arial" panose="020B0604020202020204"/>
      </a:defRPr>
    </a:lvl7pPr>
    <a:lvl8pPr indent="1600200" latinLnBrk="0">
      <a:defRPr sz="1200">
        <a:latin typeface="+mj-lt"/>
        <a:ea typeface="+mj-ea"/>
        <a:cs typeface="+mj-cs"/>
        <a:sym typeface="Arial" panose="020B0604020202020204"/>
      </a:defRPr>
    </a:lvl8pPr>
    <a:lvl9pPr indent="1828800" latinLnBrk="0">
      <a:defRPr sz="1200">
        <a:latin typeface="+mj-lt"/>
        <a:ea typeface="+mj-ea"/>
        <a:cs typeface="+mj-cs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685800" y="1371600"/>
            <a:ext cx="7848600" cy="1927225"/>
          </a:xfrm>
          <a:prstGeom prst="rect">
            <a:avLst/>
          </a:prstGeom>
        </p:spPr>
        <p:txBody>
          <a:bodyPr anchor="b"/>
          <a:lstStyle>
            <a:lvl1pPr>
              <a:defRPr sz="5400" cap="all"/>
            </a:lvl1pPr>
          </a:lstStyle>
          <a:p>
            <a:r>
              <a:t>标题文本</a:t>
            </a:r>
          </a:p>
        </p:txBody>
      </p:sp>
      <p:sp>
        <p:nvSpPr>
          <p:cNvPr id="14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85800" y="3505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>
                <a:solidFill>
                  <a:srgbClr val="404040"/>
                </a:solidFill>
              </a:defRPr>
            </a:lvl1pPr>
            <a:lvl2pPr marL="0" indent="457200">
              <a:buClrTx/>
              <a:buSzTx/>
              <a:buFontTx/>
              <a:buNone/>
              <a:defRPr>
                <a:solidFill>
                  <a:srgbClr val="404040"/>
                </a:solidFill>
              </a:defRPr>
            </a:lvl2pPr>
            <a:lvl3pPr marL="0" indent="914400">
              <a:buClrTx/>
              <a:buSzTx/>
              <a:buFontTx/>
              <a:buNone/>
              <a:defRPr>
                <a:solidFill>
                  <a:srgbClr val="404040"/>
                </a:solidFill>
              </a:defRPr>
            </a:lvl3pPr>
            <a:lvl4pPr marL="0" indent="1371600">
              <a:buClrTx/>
              <a:buSzTx/>
              <a:buFontTx/>
              <a:buNone/>
              <a:defRPr>
                <a:solidFill>
                  <a:srgbClr val="404040"/>
                </a:solidFill>
              </a:defRPr>
            </a:lvl4pPr>
            <a:lvl5pPr marL="0" indent="1828800">
              <a:buClrTx/>
              <a:buSzTx/>
              <a:buFontTx/>
              <a:buNone/>
              <a:defRPr>
                <a:solidFill>
                  <a:srgbClr val="404040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5" name="Straight Connector 7"/>
          <p:cNvSpPr/>
          <p:nvPr/>
        </p:nvSpPr>
        <p:spPr>
          <a:xfrm>
            <a:off x="685800" y="3398520"/>
            <a:ext cx="7848601" cy="1589"/>
          </a:xfrm>
          <a:prstGeom prst="line">
            <a:avLst/>
          </a:prstGeom>
          <a:ln w="19050">
            <a:solidFill>
              <a:srgbClr val="1F497D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8384892" y="38468"/>
            <a:ext cx="301909" cy="288824"/>
          </a:xfrm>
          <a:prstGeom prst="rect">
            <a:avLst/>
          </a:prstGeom>
        </p:spPr>
        <p:txBody>
          <a:bodyPr/>
          <a:lstStyle>
            <a:lvl1pPr algn="r"/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722312" y="2362200"/>
            <a:ext cx="7772401" cy="2200275"/>
          </a:xfrm>
          <a:prstGeom prst="rect">
            <a:avLst/>
          </a:prstGeom>
        </p:spPr>
        <p:txBody>
          <a:bodyPr anchor="b"/>
          <a:lstStyle>
            <a:lvl1pPr>
              <a:defRPr sz="4800" cap="all">
                <a:solidFill>
                  <a:srgbClr val="EEECE1"/>
                </a:solidFill>
              </a:defRPr>
            </a:lvl1pPr>
          </a:lstStyle>
          <a:p>
            <a:r>
              <a:t>标题文本</a:t>
            </a:r>
          </a:p>
        </p:txBody>
      </p:sp>
      <p:sp>
        <p:nvSpPr>
          <p:cNvPr id="33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722312" y="4626864"/>
            <a:ext cx="7772401" cy="1500188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FontTx/>
              <a:buNone/>
              <a:defRPr>
                <a:solidFill>
                  <a:srgbClr val="EEECE1"/>
                </a:solidFill>
              </a:defRPr>
            </a:lvl1pPr>
            <a:lvl2pPr marL="0" indent="457200">
              <a:buClrTx/>
              <a:buSzTx/>
              <a:buFontTx/>
              <a:buNone/>
              <a:defRPr>
                <a:solidFill>
                  <a:srgbClr val="EEECE1"/>
                </a:solidFill>
              </a:defRPr>
            </a:lvl2pPr>
            <a:lvl3pPr marL="0" indent="914400">
              <a:buClrTx/>
              <a:buSzTx/>
              <a:buFontTx/>
              <a:buNone/>
              <a:defRPr>
                <a:solidFill>
                  <a:srgbClr val="EEECE1"/>
                </a:solidFill>
              </a:defRPr>
            </a:lvl3pPr>
            <a:lvl4pPr marL="0" indent="1371600">
              <a:buClrTx/>
              <a:buSzTx/>
              <a:buFontTx/>
              <a:buNone/>
              <a:defRPr>
                <a:solidFill>
                  <a:srgbClr val="EEECE1"/>
                </a:solidFill>
              </a:defRPr>
            </a:lvl4pPr>
            <a:lvl5pPr marL="0" indent="1828800">
              <a:buClrTx/>
              <a:buSzTx/>
              <a:buFontTx/>
              <a:buNone/>
              <a:defRPr>
                <a:solidFill>
                  <a:srgbClr val="EEECE1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4" name="Straight Connector 6"/>
          <p:cNvSpPr/>
          <p:nvPr/>
        </p:nvSpPr>
        <p:spPr>
          <a:xfrm>
            <a:off x="731519" y="4599432"/>
            <a:ext cx="7848602" cy="1589"/>
          </a:xfrm>
          <a:prstGeom prst="line">
            <a:avLst/>
          </a:prstGeom>
          <a:ln w="19050">
            <a:solidFill>
              <a:srgbClr val="EEECE1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3" name="正文级别 1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457200" y="1673351"/>
            <a:ext cx="4038600" cy="4718305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487680" indent="-213360">
              <a:spcBef>
                <a:spcPts val="600"/>
              </a:spcBef>
              <a:defRPr sz="2800"/>
            </a:lvl2pPr>
            <a:lvl3pPr marL="804545" indent="-255905">
              <a:spcBef>
                <a:spcPts val="600"/>
              </a:spcBef>
              <a:defRPr sz="2800"/>
            </a:lvl3pPr>
            <a:lvl4pPr marL="1107440" indent="-284480">
              <a:spcBef>
                <a:spcPts val="600"/>
              </a:spcBef>
              <a:defRPr sz="2800"/>
            </a:lvl4pPr>
            <a:lvl5pPr marL="1264920" indent="-213360">
              <a:spcBef>
                <a:spcPts val="600"/>
              </a:spcBef>
              <a:defRPr sz="28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2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1676400"/>
            <a:ext cx="3931921" cy="639763"/>
          </a:xfrm>
          <a:prstGeom prst="rect">
            <a:avLst/>
          </a:prstGeom>
        </p:spPr>
        <p:txBody>
          <a:bodyPr anchor="ctr"/>
          <a:lstStyle>
            <a:lvl1pPr marL="0" indent="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lvl1pPr>
            <a:lvl2pPr marL="0" indent="45720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lvl2pPr>
            <a:lvl3pPr marL="0" indent="91440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lvl3pPr>
            <a:lvl4pPr marL="0" indent="137160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lvl4pPr>
            <a:lvl5pPr marL="0" indent="182880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53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4754879" y="1676399"/>
            <a:ext cx="3931921" cy="639764"/>
          </a:xfrm>
          <a:prstGeom prst="rect">
            <a:avLst/>
          </a:prstGeom>
        </p:spPr>
        <p:txBody>
          <a:bodyPr anchor="ctr"/>
          <a:lstStyle/>
          <a:p>
            <a:pPr marL="0" indent="0" algn="ctr">
              <a:spcBef>
                <a:spcPts val="400"/>
              </a:spcBef>
              <a:buClrTx/>
              <a:buSzTx/>
              <a:buFontTx/>
              <a:buNone/>
              <a:defRPr sz="2000">
                <a:solidFill>
                  <a:srgbClr val="1F497D"/>
                </a:solidFill>
              </a:defRPr>
            </a:pPr>
            <a:endParaRPr/>
          </a:p>
        </p:txBody>
      </p:sp>
      <p:sp>
        <p:nvSpPr>
          <p:cNvPr id="54" name="Straight Connector 10"/>
          <p:cNvSpPr/>
          <p:nvPr/>
        </p:nvSpPr>
        <p:spPr>
          <a:xfrm flipH="1">
            <a:off x="4571999" y="1691640"/>
            <a:ext cx="795" cy="4709160"/>
          </a:xfrm>
          <a:prstGeom prst="line">
            <a:avLst/>
          </a:prstGeom>
          <a:ln w="19050">
            <a:solidFill>
              <a:srgbClr val="1F497D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6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57200" y="792079"/>
            <a:ext cx="2139696" cy="1261874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78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2971800" y="792079"/>
            <a:ext cx="5715000" cy="5577842"/>
          </a:xfrm>
          <a:prstGeom prst="rect">
            <a:avLst/>
          </a:prstGeom>
        </p:spPr>
        <p:txBody>
          <a:bodyPr/>
          <a:lstStyle>
            <a:lvl1pPr>
              <a:spcBef>
                <a:spcPts val="700"/>
              </a:spcBef>
              <a:defRPr sz="3200"/>
            </a:lvl1pPr>
            <a:lvl2pPr marL="483235" indent="-208915">
              <a:spcBef>
                <a:spcPts val="700"/>
              </a:spcBef>
              <a:defRPr sz="3200"/>
            </a:lvl2pPr>
            <a:lvl3pPr marL="792480" indent="-243840">
              <a:spcBef>
                <a:spcPts val="700"/>
              </a:spcBef>
              <a:defRPr sz="3200"/>
            </a:lvl3pPr>
            <a:lvl4pPr marL="1115695" indent="-292735">
              <a:spcBef>
                <a:spcPts val="700"/>
              </a:spcBef>
              <a:defRPr sz="3200"/>
            </a:lvl4pPr>
            <a:lvl5pPr marL="1271270" indent="-219710">
              <a:spcBef>
                <a:spcPts val="700"/>
              </a:spcBef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457201" y="2130551"/>
            <a:ext cx="2139696" cy="4243616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ClrTx/>
              <a:buSzTx/>
              <a:buFontTx/>
              <a:buNone/>
              <a:defRPr sz="1400"/>
            </a:pPr>
            <a:endParaRPr/>
          </a:p>
        </p:txBody>
      </p:sp>
      <p:sp>
        <p:nvSpPr>
          <p:cNvPr id="80" name="Straight Connector 8"/>
          <p:cNvSpPr/>
          <p:nvPr/>
        </p:nvSpPr>
        <p:spPr>
          <a:xfrm flipH="1">
            <a:off x="2775010" y="792079"/>
            <a:ext cx="1589" cy="5577841"/>
          </a:xfrm>
          <a:prstGeom prst="line">
            <a:avLst/>
          </a:prstGeom>
          <a:ln w="19050">
            <a:solidFill>
              <a:srgbClr val="1F497D"/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57200" y="792480"/>
            <a:ext cx="2142681" cy="126492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标题文本</a:t>
            </a:r>
          </a:p>
        </p:txBody>
      </p:sp>
      <p:sp>
        <p:nvSpPr>
          <p:cNvPr id="89" name="Picture Placeholder 2"/>
          <p:cNvSpPr>
            <a:spLocks noGrp="1"/>
          </p:cNvSpPr>
          <p:nvPr>
            <p:ph type="pic" idx="21"/>
          </p:nvPr>
        </p:nvSpPr>
        <p:spPr>
          <a:xfrm>
            <a:off x="2858610" y="838200"/>
            <a:ext cx="5904390" cy="5500458"/>
          </a:xfrm>
          <a:prstGeom prst="rect">
            <a:avLst/>
          </a:prstGeom>
          <a:ln w="76200">
            <a:solidFill>
              <a:srgbClr val="FFFFFF"/>
            </a:solidFill>
            <a:miter lim="800000"/>
          </a:ln>
          <a:effectLst>
            <a:outerShdw blurRad="50800" dist="12700" dir="5400000" rotWithShape="0">
              <a:srgbClr val="000000">
                <a:alpha val="58999"/>
              </a:srgbClr>
            </a:outerShdw>
          </a:effectLst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90" name="正文级别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457200" y="2133600"/>
            <a:ext cx="2139696" cy="4242816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ClrTx/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ClrTx/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ClrTx/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ClrTx/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ClrTx/>
              <a:buSzTx/>
              <a:buFontTx/>
              <a:buNone/>
              <a:defRPr sz="1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/>
          <p:nvPr/>
        </p:nvSpPr>
        <p:spPr>
          <a:xfrm>
            <a:off x="0" y="220785"/>
            <a:ext cx="9144000" cy="2286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3" name="Rectangle 6"/>
          <p:cNvSpPr/>
          <p:nvPr/>
        </p:nvSpPr>
        <p:spPr>
          <a:xfrm>
            <a:off x="0" y="-1"/>
            <a:ext cx="9144000" cy="36576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" name="标题文本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5" name="正文级别 1…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6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7620000" y="38468"/>
            <a:ext cx="301908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>
              <a:defRPr sz="1400"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-100" baseline="0">
          <a:solidFill>
            <a:srgbClr val="1F497D"/>
          </a:solidFill>
          <a:uFillTx/>
          <a:latin typeface="+mj-lt"/>
          <a:ea typeface="+mj-ea"/>
          <a:cs typeface="+mj-cs"/>
          <a:sym typeface="Arial" panose="020B0604020202020204"/>
        </a:defRPr>
      </a:lvl9pPr>
    </p:titleStyle>
    <p:bodyStyle>
      <a:lvl1pPr marL="182880" marR="0" indent="-18288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85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1pPr>
      <a:lvl2pPr marL="494030" marR="0" indent="-21971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85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2pPr>
      <a:lvl3pPr marL="792480" marR="0" indent="-24384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9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3pPr>
      <a:lvl4pPr marL="1097280" marR="0" indent="-2743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4pPr>
      <a:lvl5pPr marL="1286510" marR="0" indent="-23495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5pPr>
      <a:lvl6pPr marL="1526540" marR="0" indent="-3378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6pPr>
      <a:lvl7pPr marL="1709420" marR="0" indent="-3378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7pPr>
      <a:lvl8pPr marL="1892300" marR="0" indent="-3378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8pPr>
      <a:lvl9pPr marL="2075180" marR="0" indent="-337820" algn="l" defTabSz="914400" rtl="0" latinLnBrk="0">
        <a:lnSpc>
          <a:spcPct val="100000"/>
        </a:lnSpc>
        <a:spcBef>
          <a:spcPts val="500"/>
        </a:spcBef>
        <a:spcAft>
          <a:spcPts val="0"/>
        </a:spcAft>
        <a:buClr>
          <a:schemeClr val="accent1"/>
        </a:buClr>
        <a:buSzPct val="100000"/>
        <a:buFont typeface="Arial" panose="020B0604020202020204"/>
        <a:buChar char="•"/>
        <a:defRPr sz="2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Arial" panose="020B0604020202020204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1pPr>
      <a:lvl2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2pPr>
      <a:lvl3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3pPr>
      <a:lvl4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4pPr>
      <a:lvl5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5pPr>
      <a:lvl6pPr marL="0" marR="0" indent="22860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6pPr>
      <a:lvl7pPr marL="0" marR="0" indent="2743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7pPr>
      <a:lvl8pPr marL="0" marR="0" indent="3200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8pPr>
      <a:lvl9pPr marL="0" marR="0" indent="3657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4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0E461-AEF5-92A7-20D6-C43A21080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itle 1">
            <a:extLst>
              <a:ext uri="{FF2B5EF4-FFF2-40B4-BE49-F238E27FC236}">
                <a16:creationId xmlns:a16="http://schemas.microsoft.com/office/drawing/2014/main" id="{69FF201B-F1EA-9A85-2846-B648E6F643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28600" y="361553"/>
            <a:ext cx="4810124" cy="50275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500" b="1"/>
            </a:lvl1pPr>
          </a:lstStyle>
          <a:p>
            <a:r>
              <a:rPr sz="1600" dirty="0"/>
              <a:t>Preliminary Quote Sheet (PQS)</a:t>
            </a:r>
          </a:p>
        </p:txBody>
      </p:sp>
      <p:sp>
        <p:nvSpPr>
          <p:cNvPr id="101" name="Text Placeholder 2">
            <a:extLst>
              <a:ext uri="{FF2B5EF4-FFF2-40B4-BE49-F238E27FC236}">
                <a16:creationId xmlns:a16="http://schemas.microsoft.com/office/drawing/2014/main" id="{A05A68A9-2DB6-BCA5-3DA4-89F695C49FD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384919" y="1267862"/>
            <a:ext cx="3657836" cy="228495"/>
          </a:xfrm>
          <a:prstGeom prst="rect">
            <a:avLst/>
          </a:prstGeom>
        </p:spPr>
        <p:txBody>
          <a:bodyPr>
            <a:noAutofit/>
          </a:bodyPr>
          <a:lstStyle>
            <a:lvl1pPr algn="l" defTabSz="868680">
              <a:lnSpc>
                <a:spcPct val="80000"/>
              </a:lnSpc>
              <a:spcBef>
                <a:spcPts val="200"/>
              </a:spcBef>
              <a:defRPr sz="1045" b="1" u="sng"/>
            </a:lvl1pPr>
          </a:lstStyle>
          <a:p>
            <a:pPr>
              <a:lnSpc>
                <a:spcPct val="100000"/>
              </a:lnSpc>
            </a:pPr>
            <a:r>
              <a:rPr sz="1000" dirty="0"/>
              <a:t>Specification / Features:</a:t>
            </a:r>
          </a:p>
        </p:txBody>
      </p:sp>
      <p:sp>
        <p:nvSpPr>
          <p:cNvPr id="102" name="Content Placeholder 3">
            <a:extLst>
              <a:ext uri="{FF2B5EF4-FFF2-40B4-BE49-F238E27FC236}">
                <a16:creationId xmlns:a16="http://schemas.microsoft.com/office/drawing/2014/main" id="{4FD3F55D-9FC7-9AF8-2CB7-BD05F375B73C}"/>
              </a:ext>
            </a:extLst>
          </p:cNvPr>
          <p:cNvSpPr txBox="1"/>
          <p:nvPr/>
        </p:nvSpPr>
        <p:spPr>
          <a:xfrm>
            <a:off x="430639" y="1496358"/>
            <a:ext cx="3944393" cy="3388993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 fontScale="92500"/>
          </a:bodyPr>
          <a:lstStyle/>
          <a:p>
            <a:pPr algn="l">
              <a:spcAft>
                <a:spcPts val="800"/>
              </a:spcAft>
            </a:pPr>
            <a:r>
              <a:rPr lang="en-US" sz="1000" kern="100" dirty="0">
                <a:effectLst/>
              </a:rPr>
              <a:t>The LED light is absorbed by the deeper layers of the skin. This triggers cellular activity, which helps to renew skin cells and repair aging tissue. 
1.Using 60pcs 99% purity infra LED chips with no UV；
2.Made from food-grade flexible silicone material, fits and wraps you face skin perfectly- meaning the light can penetrate more deeply and evenly, and suitable for different size face；
3.Lightweight design, the mask weighs only 206g, 3mm ultra-thin ;
4.Wireless ease, built-in rechargable large capacity Lithium battery for long time use;
5.Remote controller for convience operation;
6.IPX6 waterproof;
7.Timmer function:5minutes, 10minutes, 15minutes;
8.Light energy 3 levels adjustable;
9.Treat your skin with 7 different LED colors; each color tackles a different skin concern.
10.Elgent Design: admire the blend of technology and design</a:t>
            </a:r>
            <a:endParaRPr lang="en-HK" sz="1000" kern="100" dirty="0">
              <a:effectLst/>
            </a:endParaRPr>
          </a:p>
        </p:txBody>
      </p:sp>
      <p:sp>
        <p:nvSpPr>
          <p:cNvPr id="103" name="Text Placeholder 4">
            <a:extLst>
              <a:ext uri="{FF2B5EF4-FFF2-40B4-BE49-F238E27FC236}">
                <a16:creationId xmlns:a16="http://schemas.microsoft.com/office/drawing/2014/main" id="{6E089B39-5186-A6BD-303A-4FD157BB0806}"/>
              </a:ext>
            </a:extLst>
          </p:cNvPr>
          <p:cNvSpPr>
            <a:spLocks noGrp="1"/>
          </p:cNvSpPr>
          <p:nvPr>
            <p:ph type="body" idx="21"/>
          </p:nvPr>
        </p:nvSpPr>
        <p:spPr>
          <a:xfrm>
            <a:off x="4735629" y="1111230"/>
            <a:ext cx="3779817" cy="32657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80000"/>
              </a:lnSpc>
              <a:spcBef>
                <a:spcPts val="200"/>
              </a:spcBef>
              <a:buClrTx/>
              <a:buSzTx/>
              <a:buFontTx/>
              <a:buNone/>
              <a:defRPr sz="1200" b="1">
                <a:solidFill>
                  <a:srgbClr val="1F497D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sz="1000" dirty="0"/>
              <a:t>Model Number: TS_51011 </a:t>
            </a:r>
            <a:endParaRPr lang="en-HK" sz="1000" kern="100" dirty="0">
              <a:effectLst/>
            </a:endParaRPr>
          </a:p>
        </p:txBody>
      </p:sp>
      <p:sp>
        <p:nvSpPr>
          <p:cNvPr id="104" name="Content Placeholder 5">
            <a:extLst>
              <a:ext uri="{FF2B5EF4-FFF2-40B4-BE49-F238E27FC236}">
                <a16:creationId xmlns:a16="http://schemas.microsoft.com/office/drawing/2014/main" id="{9A3274DA-0C45-D23D-9577-87263CFD1999}"/>
              </a:ext>
            </a:extLst>
          </p:cNvPr>
          <p:cNvSpPr txBox="1"/>
          <p:nvPr/>
        </p:nvSpPr>
        <p:spPr>
          <a:xfrm>
            <a:off x="4781348" y="1437797"/>
            <a:ext cx="4030934" cy="3447554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105" name="Content Placeholder 3">
            <a:extLst>
              <a:ext uri="{FF2B5EF4-FFF2-40B4-BE49-F238E27FC236}">
                <a16:creationId xmlns:a16="http://schemas.microsoft.com/office/drawing/2014/main" id="{1301A15A-DAD7-3589-CCB2-9E74FBD8F823}"/>
              </a:ext>
            </a:extLst>
          </p:cNvPr>
          <p:cNvSpPr txBox="1"/>
          <p:nvPr/>
        </p:nvSpPr>
        <p:spPr>
          <a:xfrm>
            <a:off x="401321" y="4885351"/>
            <a:ext cx="4030934" cy="1915899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/>
          <a:p>
            <a:pPr algn="l"/>
            <a:r>
              <a:rPr lang="en-HK" sz="1000" kern="100" dirty="0">
                <a:effectLst/>
              </a:rPr>
              <a:t>Product Class: I</a:t>
            </a:r>
          </a:p>
          <a:p>
            <a:pPr algn="l"/>
            <a:r>
              <a:rPr lang="en-HK" sz="1000" kern="100" dirty="0">
                <a:effectLst/>
              </a:rPr>
              <a:t>Unit Size: 402*199*3mm </a:t>
            </a:r>
          </a:p>
          <a:p>
            <a:pPr algn="l"/>
            <a:r>
              <a:rPr lang="en-HK" sz="1000" kern="100" dirty="0">
                <a:effectLst/>
              </a:rPr>
              <a:t>Unit Weight: 0.1925g</a:t>
            </a:r>
          </a:p>
          <a:p>
            <a:pPr algn="l"/>
            <a:r>
              <a:rPr lang="en-HK" sz="1000" kern="100" dirty="0">
                <a:effectLst/>
              </a:rPr>
              <a:t>Colour box size: 41.6*23.6*5.7cm</a:t>
            </a:r>
          </a:p>
          <a:p>
            <a:pPr algn="l"/>
            <a:r>
              <a:rPr lang="en-HK" sz="1000" kern="100" dirty="0"/>
              <a:t>Colour box weight: 0.92kgs</a:t>
            </a:r>
            <a:endParaRPr lang="en-HK" sz="1000" kern="100" dirty="0">
              <a:effectLst/>
            </a:endParaRPr>
          </a:p>
          <a:p>
            <a:pPr algn="l"/>
            <a:r>
              <a:rPr lang="en-HK" sz="1000" kern="100" dirty="0">
                <a:effectLst/>
              </a:rPr>
              <a:t>Export Carton Size: 60cm*43.3cm*48.5cm</a:t>
            </a:r>
          </a:p>
          <a:p>
            <a:pPr algn="l"/>
            <a:r>
              <a:rPr lang="en-HK" sz="1000" kern="100" dirty="0">
                <a:effectLst/>
              </a:rPr>
              <a:t>Export Carton Weight: 20kgs</a:t>
            </a:r>
          </a:p>
          <a:p>
            <a:pPr algn="l"/>
            <a:r>
              <a:rPr lang="en-HK" sz="1000" kern="100" dirty="0">
                <a:effectLst/>
              </a:rPr>
              <a:t>Quantity per Carton: 20</a:t>
            </a:r>
          </a:p>
          <a:p>
            <a:pPr algn="l"/>
            <a:r>
              <a:rPr lang="en-HK" sz="1000" kern="100" dirty="0">
                <a:effectLst/>
              </a:rPr>
              <a:t>Quantity per 20'/40'/40HQ: 4,500/9,200/10,000</a:t>
            </a:r>
          </a:p>
          <a:p>
            <a:pPr algn="l"/>
            <a:r>
              <a:rPr lang="en-HK" sz="1000" kern="100" dirty="0">
                <a:effectLst/>
              </a:rPr>
              <a:t>HS Code: 8543709990</a:t>
            </a:r>
          </a:p>
          <a:p>
            <a:pPr algn="l"/>
            <a:r>
              <a:rPr lang="en-HK" sz="1000" kern="100" dirty="0">
                <a:effectLst/>
              </a:rPr>
              <a:t>Certificates: CE/RoHS/FCC</a:t>
            </a:r>
          </a:p>
          <a:p>
            <a:pPr algn="l"/>
            <a:r>
              <a:rPr lang="en-HK" sz="1000" kern="100" dirty="0">
                <a:effectLst/>
              </a:rPr>
              <a:t> </a:t>
            </a:r>
          </a:p>
        </p:txBody>
      </p:sp>
      <p:sp>
        <p:nvSpPr>
          <p:cNvPr id="106" name="Content Placeholder 3">
            <a:extLst>
              <a:ext uri="{FF2B5EF4-FFF2-40B4-BE49-F238E27FC236}">
                <a16:creationId xmlns:a16="http://schemas.microsoft.com/office/drawing/2014/main" id="{DD7E1F6B-51E0-AEA1-AD9A-7333951E0107}"/>
              </a:ext>
            </a:extLst>
          </p:cNvPr>
          <p:cNvSpPr txBox="1"/>
          <p:nvPr/>
        </p:nvSpPr>
        <p:spPr>
          <a:xfrm>
            <a:off x="4855508" y="4580548"/>
            <a:ext cx="3944393" cy="1629752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/>
          <a:p>
            <a:pPr algn="l">
              <a:spcAft>
                <a:spcPts val="800"/>
              </a:spcAft>
            </a:pPr>
            <a:endParaRPr lang="en-HK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7" name="Picture 9" descr="Picture 9">
            <a:extLst>
              <a:ext uri="{FF2B5EF4-FFF2-40B4-BE49-F238E27FC236}">
                <a16:creationId xmlns:a16="http://schemas.microsoft.com/office/drawing/2014/main" id="{2EF600BD-3A69-44A5-56EB-272B4D993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1598" y="471120"/>
            <a:ext cx="3224260" cy="64011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8" name="Content Placeholder 3">
            <a:extLst>
              <a:ext uri="{FF2B5EF4-FFF2-40B4-BE49-F238E27FC236}">
                <a16:creationId xmlns:a16="http://schemas.microsoft.com/office/drawing/2014/main" id="{EA744BF9-33BB-38C9-79A5-89F56161D131}"/>
              </a:ext>
            </a:extLst>
          </p:cNvPr>
          <p:cNvSpPr txBox="1"/>
          <p:nvPr/>
        </p:nvSpPr>
        <p:spPr>
          <a:xfrm>
            <a:off x="4855507" y="6515103"/>
            <a:ext cx="3887172" cy="53444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spcBef>
                <a:spcPts val="300"/>
              </a:spcBef>
              <a:defRPr sz="1400" b="1">
                <a:solidFill>
                  <a:srgbClr val="C00000"/>
                </a:solidFill>
              </a:defRPr>
            </a:pPr>
            <a:endParaRPr lang="en-HK" sz="1000" kern="100" dirty="0">
              <a:effectLst/>
            </a:endParaRP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97C9D84F-0000-5624-C0E8-912989AEA940}"/>
              </a:ext>
            </a:extLst>
          </p:cNvPr>
          <p:cNvSpPr txBox="1"/>
          <p:nvPr/>
        </p:nvSpPr>
        <p:spPr>
          <a:xfrm>
            <a:off x="190149" y="748453"/>
            <a:ext cx="4338832" cy="502759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Autofit/>
          </a:bodyPr>
          <a:lstStyle>
            <a:lvl1pPr>
              <a:lnSpc>
                <a:spcPct val="80000"/>
              </a:lnSpc>
              <a:spcBef>
                <a:spcPts val="300"/>
              </a:spcBef>
              <a:defRPr sz="1300" b="1">
                <a:solidFill>
                  <a:srgbClr val="1F497D"/>
                </a:solidFill>
              </a:defRPr>
            </a:lvl1pPr>
          </a:lstStyle>
          <a:p>
            <a:pPr algn="l">
              <a:lnSpc>
                <a:spcPct val="100000"/>
              </a:lnSpc>
            </a:pPr>
            <a:r>
              <a:rPr lang="en-US" sz="1000" kern="1200" dirty="0">
                <a:effectLst/>
              </a:rPr>
              <a:t>Product Name: LED Face Mask</a:t>
            </a:r>
          </a:p>
          <a:p>
            <a:pPr algn="l">
              <a:lnSpc>
                <a:spcPct val="100000"/>
              </a:lnSpc>
            </a:pPr>
            <a:r>
              <a:rPr lang="en-US" sz="1000" kern="1200" dirty="0">
                <a:effectLst/>
              </a:rPr>
              <a:t>Date: 18 April 2025 (Quote Valid for 2 Months)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7D417B1-4BA6-DE62-BCD5-1C373B5DC87B}"/>
              </a:ext>
            </a:extLst>
          </p:cNvPr>
          <p:cNvSpPr txBox="1"/>
          <p:nvPr/>
        </p:nvSpPr>
        <p:spPr>
          <a:xfrm>
            <a:off x="4855507" y="4885353"/>
            <a:ext cx="4030934" cy="162975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/>
          <a:p>
            <a:pPr algn="l"/>
            <a:r>
              <a:rPr lang="en-HK" sz="1000" kern="0" dirty="0">
                <a:effectLst/>
              </a:rPr>
              <a:t>Unit Price in USD: 18</a:t>
            </a:r>
            <a:endParaRPr lang="en-HK" sz="1000" kern="100" dirty="0"/>
          </a:p>
          <a:p>
            <a:pPr algn="l"/>
            <a:endParaRPr lang="en-HK" sz="1000" kern="100" dirty="0"/>
          </a:p>
          <a:p>
            <a:pPr algn="l"/>
            <a:r>
              <a:rPr lang="en-HK" sz="1000" kern="0" dirty="0">
                <a:effectLst/>
              </a:rPr>
              <a:t>FOB Port: Shenzhen</a:t>
            </a:r>
            <a:endParaRPr lang="en-HK" sz="1000" kern="100" dirty="0"/>
          </a:p>
          <a:p>
            <a:pPr algn="l"/>
            <a:r>
              <a:rPr lang="en-HK" sz="1000" kern="0" dirty="0">
                <a:effectLst/>
              </a:rPr>
              <a:t>MOQ: 5000</a:t>
            </a:r>
            <a:endParaRPr lang="en-HK" sz="1000" kern="100" dirty="0"/>
          </a:p>
          <a:p>
            <a:pPr algn="l"/>
            <a:r>
              <a:rPr lang="en-HK" sz="1000" kern="0" dirty="0">
                <a:effectLst/>
              </a:rPr>
              <a:t>Delivery Days: 30 Days</a:t>
            </a:r>
            <a:endParaRPr lang="en-HK" sz="1000" kern="100" dirty="0"/>
          </a:p>
          <a:p>
            <a:pPr algn="l"/>
            <a:r>
              <a:rPr lang="en-HK" sz="1000" kern="0" dirty="0">
                <a:effectLst/>
              </a:rPr>
              <a:t>Product Status: Ready for Production</a:t>
            </a:r>
            <a:endParaRPr lang="en-HK" sz="1000" kern="100" dirty="0"/>
          </a:p>
          <a:p>
            <a:pPr algn="l"/>
            <a:endParaRPr lang="en-HK" sz="1000" kern="100" dirty="0"/>
          </a:p>
          <a:p>
            <a:pPr algn="l"/>
            <a:endParaRPr lang="en-HK" sz="1000" kern="100" dirty="0"/>
          </a:p>
          <a:p>
            <a:pPr algn="l"/>
            <a:r>
              <a:rPr lang="en-US" sz="1000" kern="100" dirty="0">
                <a:effectLst/>
              </a:rPr>
              <a:t>Payment Terms: 30% Deposit, Balance against B/L copy</a:t>
            </a:r>
            <a:r>
              <a:rPr lang="en-US" sz="1000" kern="1200" dirty="0">
                <a:effectLst/>
              </a:rPr>
              <a:t> </a:t>
            </a:r>
            <a:endParaRPr lang="en-HK" sz="1000" kern="100" dirty="0">
              <a:effectLst/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AD1B6A-4E50-E10B-29EE-61185178FBCD}"/>
              </a:ext>
            </a:extLst>
          </p:cNvPr>
          <p:cNvSpPr txBox="1"/>
          <p:nvPr/>
        </p:nvSpPr>
        <p:spPr>
          <a:xfrm>
            <a:off x="3356975" y="3175348"/>
            <a:ext cx="92396" cy="36933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Arial" panose="020B0604020202020204"/>
            </a:endParaRPr>
          </a:p>
        </p:txBody>
      </p:sp>
      <p:pic>
        <p:nvPicPr>
          <p:cNvPr id="111" name="Picture 110" descr="product_image.png"/>
          <p:cNvPicPr>
            <a:picLocks noChangeAspect="1"/>
          </p:cNvPicPr>
          <p:nvPr/>
        </p:nvPicPr>
        <p:blipFill>
          <a:blip r:embed="rId3"/>
          <a:srcRect t="16603" b="18200"/>
          <a:stretch/>
        </p:blipFill>
        <p:spPr>
          <a:xfrm>
            <a:off x="4615409" y="1594431"/>
            <a:ext cx="4511130" cy="2986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353895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Clarity">
  <a:themeElements>
    <a:clrScheme name="Clarity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larity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6425" cap="flat">
          <a:solidFill>
            <a:schemeClr val="accent1"/>
          </a:solidFill>
          <a:prstDash val="solid"/>
          <a:round/>
        </a:ln>
        <a:effectLst>
          <a:outerShdw blurRad="38100" dist="25400" dir="2700000" rotWithShape="0">
            <a:srgbClr val="000000">
              <a:alpha val="6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6425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larity">
  <a:themeElements>
    <a:clrScheme name="Clarity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Clarity">
      <a:majorFont>
        <a:latin typeface="Arial"/>
        <a:ea typeface="Arial"/>
        <a:cs typeface="Arial"/>
      </a:majorFont>
      <a:minorFont>
        <a:latin typeface="Helvetica"/>
        <a:ea typeface="Helvetica"/>
        <a:cs typeface="Helvetica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rotWithShape="0">
              <a:srgbClr val="000000">
                <a:alpha val="60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6425" cap="flat">
          <a:solidFill>
            <a:schemeClr val="accent1"/>
          </a:solidFill>
          <a:prstDash val="solid"/>
          <a:round/>
        </a:ln>
        <a:effectLst>
          <a:outerShdw blurRad="38100" dist="25400" dir="2700000" rotWithShape="0">
            <a:srgbClr val="000000">
              <a:alpha val="60000"/>
            </a:srgbClr>
          </a:outerShdw>
        </a:effectLst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6425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Arial" panose="020B060402020202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6064</TotalTime>
  <Words>312</Words>
  <Application>Microsoft Macintosh PowerPoint</Application>
  <PresentationFormat>On-screen Show (4:3)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Clarity</vt:lpstr>
      <vt:lpstr>Preliminary Quote Sheet (PQS)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Preliminary Quote Sheet (PQS)</dc:title>
  <dc:creator/>
  <cp:lastModifiedBy>Teleshop Team</cp:lastModifiedBy>
  <cp:revision>48</cp:revision>
  <dcterms:created xsi:type="dcterms:W3CDTF">2024-11-28T03:06:00Z</dcterms:created>
  <dcterms:modified xsi:type="dcterms:W3CDTF">2025-04-30T08:00:24Z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8303509441FB4DE8A7B88B42DB839FC0_12</vt:lpwstr>
  </property>
  <property fmtid="{D5CDD505-2E9C-101B-9397-08002B2CF9AE}" pid="3" name="KSOProductBuildVer">
    <vt:lpwstr>2052-12.1.0.19770</vt:lpwstr>
  </property>
</Properties>
</file>